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10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10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4128-882C-7D15-8DA3-EBCD3258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41215-4282-A22D-913A-9DCC804A2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43B9E-FE22-EB9B-07D3-DBF08C742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CD49F-B041-5927-ABA4-65B027846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18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24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840480" cy="38404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KOPARGOAN HACKATHON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CleanKop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IoT &amp; GPS-Based Smart Garbage Collection and Monitoring System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0515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657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3877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SKH21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43159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45354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Smart Garbage Collection and Monitoring System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497433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7280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Innovation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657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3877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43159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45354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T4M4VZ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497433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89320" y="3657600"/>
            <a:ext cx="0" cy="1691640"/>
          </a:xfrm>
          <a:prstGeom prst="line">
            <a:avLst/>
          </a:prstGeom>
          <a:noFill/>
          <a:ln w="12700">
            <a:solidFill>
              <a:srgbClr val="E3E7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Parth Desai (Leader)  •  Divya Pawar  •  Shreyash Patil  •  Tanavi Pawar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pic>
        <p:nvPicPr>
          <p:cNvPr id="5" name="Image 0" descr="icon_recy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4" y="393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CleanKop AI — Proposed Solution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IoT + AI platform that gives every bin a digital identity, every collection route a data-driven plan, and every citizen complaint a transparent trail — replacing today's manual, fixed-schedule waste collection.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530352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SOLVE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127248"/>
            <a:ext cx="384048" cy="384048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12" name="Image 1" descr="icon_alert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3223260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30998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fill data — collections run on fixed schedules, not actual need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15" name="Image 2" descr="icon_mappin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3982212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85876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 — zero accountability or data synchronization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645152"/>
            <a:ext cx="384048" cy="384048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18" name="Image 3" descr="icon_phone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" y="4741164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46177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complaints — issues stay informal, untracked, unprioritized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77240" y="5404104"/>
            <a:ext cx="384048" cy="384048"/>
          </a:xfrm>
          <a:prstGeom prst="ellipse">
            <a:avLst/>
          </a:prstGeom>
          <a:solidFill>
            <a:srgbClr val="FBEAE9"/>
          </a:solidFill>
          <a:ln/>
        </p:spPr>
      </p:sp>
      <p:pic>
        <p:nvPicPr>
          <p:cNvPr id="21" name="Image 4" descr="icon_trending_028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" y="5500116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537667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 — performance is never measured or improved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989320" y="2514600"/>
            <a:ext cx="5742432" cy="3703320"/>
          </a:xfrm>
          <a:prstGeom prst="roundRect">
            <a:avLst>
              <a:gd name="adj" fmla="val 2469"/>
            </a:avLst>
          </a:prstGeom>
          <a:solidFill>
            <a:srgbClr val="028090"/>
          </a:solidFill>
          <a:ln/>
        </p:spPr>
      </p:sp>
      <p:sp>
        <p:nvSpPr>
          <p:cNvPr id="24" name="Text 17"/>
          <p:cNvSpPr/>
          <p:nvPr/>
        </p:nvSpPr>
        <p:spPr>
          <a:xfrm>
            <a:off x="6309360" y="2724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CLEANKOP AI ADDRESSES IT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309360" y="3127248"/>
            <a:ext cx="384048" cy="384048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5" descr="icon_wifi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5372" y="3223260"/>
            <a:ext cx="192024" cy="192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30568" y="309981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ESP32 sensors report live bin fill % over Wi-Fi/GSM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09360" y="3886200"/>
            <a:ext cx="384048" cy="384048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9" name="Image 6" descr="icon_rout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5372" y="3982212"/>
            <a:ext cx="192024" cy="1920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30568" y="38587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nearest-neighbor + 2-opt engine plans the shortest priority route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309360" y="4645152"/>
            <a:ext cx="384048" cy="384048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2" name="Image 7" descr="icon_bell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5372" y="4741164"/>
            <a:ext cx="192024" cy="19202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30568" y="4617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 + ticketed complaints with Submitted → Resolved workflow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6309360" y="5404104"/>
            <a:ext cx="384048" cy="384048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5" name="Image 8" descr="icon_barchart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5372" y="5500116"/>
            <a:ext cx="192024" cy="1920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30568" y="53766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dashboard tracks fuel saved, resolution time &amp; performance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27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30BCBD9-4C61-7F14-2EE9-9FFB0119C1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0395" y="279011"/>
            <a:ext cx="764969" cy="7649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Methodology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18013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38428" y="1993392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0" name="Image 1" descr="icon_phone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0939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" y="248716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30352" y="272491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2350008" y="1828800"/>
            <a:ext cx="18013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031236" y="1993392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5" name="Image 2" descr="icon_cpu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20939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23160" y="248716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423160" y="272491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4242816" y="1828800"/>
            <a:ext cx="18013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24044" y="1993392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0" name="Image 3" descr="icon_database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20939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15968" y="248716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315968" y="272491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PostgreSQL + PostGIS</a:t>
            </a:r>
            <a:endParaRPr lang="en-US" sz="880" dirty="0"/>
          </a:p>
        </p:txBody>
      </p:sp>
      <p:sp>
        <p:nvSpPr>
          <p:cNvPr id="23" name="Shape 17"/>
          <p:cNvSpPr/>
          <p:nvPr/>
        </p:nvSpPr>
        <p:spPr>
          <a:xfrm>
            <a:off x="6135624" y="1828800"/>
            <a:ext cx="18013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16852" y="1993392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5" name="Image 4" descr="icon_mappin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209397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08776" y="248716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208776" y="272491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OpenStreetMap</a:t>
            </a:r>
            <a:endParaRPr lang="en-US" sz="880" dirty="0"/>
          </a:p>
        </p:txBody>
      </p:sp>
      <p:sp>
        <p:nvSpPr>
          <p:cNvPr id="28" name="Shape 21"/>
          <p:cNvSpPr/>
          <p:nvPr/>
        </p:nvSpPr>
        <p:spPr>
          <a:xfrm>
            <a:off x="8028432" y="1828800"/>
            <a:ext cx="18013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709660" y="1993392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30" name="Image 5" descr="icon_bell_028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0244" y="209397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01584" y="248716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Alerts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101584" y="272491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Socket.io, Nodemailer / Twilio</a:t>
            </a:r>
            <a:endParaRPr lang="en-US" sz="880" dirty="0"/>
          </a:p>
        </p:txBody>
      </p:sp>
      <p:sp>
        <p:nvSpPr>
          <p:cNvPr id="33" name="Shape 25"/>
          <p:cNvSpPr/>
          <p:nvPr/>
        </p:nvSpPr>
        <p:spPr>
          <a:xfrm>
            <a:off x="9921240" y="1828800"/>
            <a:ext cx="18013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0602468" y="1993392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35" name="Image 6" descr="icon_trending_0280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3052" y="209397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994392" y="248716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9994392" y="272491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E8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+ Mapbox APIs</a:t>
            </a:r>
            <a:endParaRPr lang="en-US" sz="880" dirty="0"/>
          </a:p>
        </p:txBody>
      </p:sp>
      <p:sp>
        <p:nvSpPr>
          <p:cNvPr id="38" name="Text 29"/>
          <p:cNvSpPr/>
          <p:nvPr/>
        </p:nvSpPr>
        <p:spPr>
          <a:xfrm>
            <a:off x="457200" y="3520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57200" y="384048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94360" y="40050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2"/>
          <p:cNvSpPr/>
          <p:nvPr/>
        </p:nvSpPr>
        <p:spPr>
          <a:xfrm>
            <a:off x="59436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621792" y="4462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→ Cloud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21792" y="4892040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ultrasonic sensor sends fill-level data to the backend every few minutes (hackathon: simulator script)</a:t>
            </a:r>
            <a:endParaRPr lang="en-US" sz="930" dirty="0"/>
          </a:p>
        </p:txBody>
      </p:sp>
      <p:sp>
        <p:nvSpPr>
          <p:cNvPr id="44" name="Text 35"/>
          <p:cNvSpPr/>
          <p:nvPr/>
        </p:nvSpPr>
        <p:spPr>
          <a:xfrm>
            <a:off x="2560320" y="39502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2660904" y="384048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EFF7F6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2798064" y="40050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7" name="Text 38"/>
          <p:cNvSpPr/>
          <p:nvPr/>
        </p:nvSpPr>
        <p:spPr>
          <a:xfrm>
            <a:off x="2798064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2825496" y="4462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&amp; Alert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2825496" y="4892040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stores bin data in the database; bins over 80% trigger an automatic alert</a:t>
            </a:r>
            <a:endParaRPr lang="en-US" sz="930" dirty="0"/>
          </a:p>
        </p:txBody>
      </p:sp>
      <p:sp>
        <p:nvSpPr>
          <p:cNvPr id="50" name="Text 41"/>
          <p:cNvSpPr/>
          <p:nvPr/>
        </p:nvSpPr>
        <p:spPr>
          <a:xfrm>
            <a:off x="4764024" y="39502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2"/>
          <p:cNvSpPr/>
          <p:nvPr/>
        </p:nvSpPr>
        <p:spPr>
          <a:xfrm>
            <a:off x="4864608" y="384048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5001768" y="40050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3" name="Text 44"/>
          <p:cNvSpPr/>
          <p:nvPr/>
        </p:nvSpPr>
        <p:spPr>
          <a:xfrm>
            <a:off x="5001768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5029200" y="4462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Route</a:t>
            </a:r>
            <a:endParaRPr lang="en-US" sz="1250" dirty="0"/>
          </a:p>
        </p:txBody>
      </p:sp>
      <p:sp>
        <p:nvSpPr>
          <p:cNvPr id="55" name="Text 46"/>
          <p:cNvSpPr/>
          <p:nvPr/>
        </p:nvSpPr>
        <p:spPr>
          <a:xfrm>
            <a:off x="5029200" y="4892040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nearest-neighbor + 2-opt algorithm ranks red/yellow/green bins and outputs the shortest route</a:t>
            </a:r>
            <a:endParaRPr lang="en-US" sz="930" dirty="0"/>
          </a:p>
        </p:txBody>
      </p:sp>
      <p:sp>
        <p:nvSpPr>
          <p:cNvPr id="56" name="Text 47"/>
          <p:cNvSpPr/>
          <p:nvPr/>
        </p:nvSpPr>
        <p:spPr>
          <a:xfrm>
            <a:off x="6967728" y="39502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48"/>
          <p:cNvSpPr/>
          <p:nvPr/>
        </p:nvSpPr>
        <p:spPr>
          <a:xfrm>
            <a:off x="7068312" y="384048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EFF7F6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7205472" y="40050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9" name="Text 50"/>
          <p:cNvSpPr/>
          <p:nvPr/>
        </p:nvSpPr>
        <p:spPr>
          <a:xfrm>
            <a:off x="7205472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7232904" y="4462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 Update</a:t>
            </a:r>
            <a:endParaRPr lang="en-US" sz="1250" dirty="0"/>
          </a:p>
        </p:txBody>
      </p:sp>
      <p:sp>
        <p:nvSpPr>
          <p:cNvPr id="61" name="Text 52"/>
          <p:cNvSpPr/>
          <p:nvPr/>
        </p:nvSpPr>
        <p:spPr>
          <a:xfrm>
            <a:off x="7232904" y="4892040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tracks GPS live and marks bins collected; status syncs to admin in real time</a:t>
            </a:r>
            <a:endParaRPr lang="en-US" sz="930" dirty="0"/>
          </a:p>
        </p:txBody>
      </p:sp>
      <p:sp>
        <p:nvSpPr>
          <p:cNvPr id="62" name="Text 53"/>
          <p:cNvSpPr/>
          <p:nvPr/>
        </p:nvSpPr>
        <p:spPr>
          <a:xfrm>
            <a:off x="9171432" y="395020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Shape 54"/>
          <p:cNvSpPr/>
          <p:nvPr/>
        </p:nvSpPr>
        <p:spPr>
          <a:xfrm>
            <a:off x="9272016" y="384048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9409176" y="40050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5" name="Text 56"/>
          <p:cNvSpPr/>
          <p:nvPr/>
        </p:nvSpPr>
        <p:spPr>
          <a:xfrm>
            <a:off x="9409176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57"/>
          <p:cNvSpPr/>
          <p:nvPr/>
        </p:nvSpPr>
        <p:spPr>
          <a:xfrm>
            <a:off x="9436608" y="4462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Complaints</a:t>
            </a:r>
            <a:endParaRPr lang="en-US" sz="1250" dirty="0"/>
          </a:p>
        </p:txBody>
      </p:sp>
      <p:sp>
        <p:nvSpPr>
          <p:cNvPr id="67" name="Text 58"/>
          <p:cNvSpPr/>
          <p:nvPr/>
        </p:nvSpPr>
        <p:spPr>
          <a:xfrm>
            <a:off x="9436608" y="4892040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flow through Submitted → Assigned → In Progress → Resolved, with 48-hr escalation</a:t>
            </a:r>
            <a:endParaRPr lang="en-US" sz="930" dirty="0"/>
          </a:p>
        </p:txBody>
      </p:sp>
      <p:sp>
        <p:nvSpPr>
          <p:cNvPr id="68" name="Shape 5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9" name="Text 60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70" name="Text 61"/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EFFD91EC-88ED-D0F3-617D-157988FFFD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0395" y="279011"/>
            <a:ext cx="764969" cy="7649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pic>
        <p:nvPicPr>
          <p:cNvPr id="5" name="Image 0" descr="icon_recy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4" y="393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9" name="Image 1" descr="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820" y="226645"/>
            <a:ext cx="5700697" cy="62366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2" name="Image 2" descr="icon_wifi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402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21031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layer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932688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sensors + ESP32 push fill data to the backend</a:t>
            </a:r>
            <a:endParaRPr lang="en-US" sz="960" dirty="0"/>
          </a:p>
        </p:txBody>
      </p:sp>
      <p:sp>
        <p:nvSpPr>
          <p:cNvPr id="15" name="Shape 10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6" name="Image 3" descr="icon_cpu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632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" y="2926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core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932688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handles auth, routing, complaints, alerts</a:t>
            </a:r>
            <a:endParaRPr lang="en-US" sz="960" dirty="0"/>
          </a:p>
        </p:txBody>
      </p:sp>
      <p:sp>
        <p:nvSpPr>
          <p:cNvPr id="19" name="Shape 13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0" name="Image 4" descr="icon_database_028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8620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2688" y="3749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932688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MongoDB/PostgreSQL + PostGIS stores bins, routes, users</a:t>
            </a:r>
            <a:endParaRPr lang="en-US" sz="960" dirty="0"/>
          </a:p>
        </p:txBody>
      </p:sp>
      <p:sp>
        <p:nvSpPr>
          <p:cNvPr id="23" name="Shape 16"/>
          <p:cNvSpPr/>
          <p:nvPr/>
        </p:nvSpPr>
        <p:spPr>
          <a:xfrm>
            <a:off x="457200" y="4617720"/>
            <a:ext cx="365760" cy="36576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4" name="Image 5" descr="icon_users_0280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32688" y="4572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932688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Citizen, Admin &amp; Driver apps share one live backend</a:t>
            </a:r>
            <a:endParaRPr lang="en-US" sz="960" dirty="0"/>
          </a:p>
        </p:txBody>
      </p:sp>
      <p:sp>
        <p:nvSpPr>
          <p:cNvPr id="27" name="Shape 19"/>
          <p:cNvSpPr/>
          <p:nvPr/>
        </p:nvSpPr>
        <p:spPr>
          <a:xfrm>
            <a:off x="457200" y="5440680"/>
            <a:ext cx="365760" cy="36576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8" name="Image 6" descr="icon_route_02809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532120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32688" y="5394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engine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932688" y="5623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+ 2-opt turns priority bins into an optimized path</a:t>
            </a:r>
            <a:endParaRPr lang="en-US" sz="960" dirty="0"/>
          </a:p>
        </p:txBody>
      </p:sp>
      <p:sp>
        <p:nvSpPr>
          <p:cNvPr id="31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23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0A39846-AD98-B23D-49E1-06A286BE17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0395" y="279011"/>
            <a:ext cx="764969" cy="7649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pic>
        <p:nvPicPr>
          <p:cNvPr id="5" name="Image 0" descr="icon_recy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4" y="393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Build &amp; Run This?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762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075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ultrasonic sensors are low-cost, off-the-shelf, and hackathon-ready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6426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(React, Node.js, MongoDB/PostgreSQL) is mature, documented, and free to prototype 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3101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20954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nearest-neighbor + 2-opt is lightweight enough to run on a standard server in real time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8770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776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Firmware-ready architecture: today's simulator script swaps for real sensors with no redesign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06440" y="1783080"/>
            <a:ext cx="59436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→  MITIGATION STRATEGY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23957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Per-bin hardware cost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80760" y="26609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rollout — pilot in a few high-traffic wards before city-wide scale-up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080760" y="33284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Patchy rural connectivity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80760" y="3593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fallback alongside Wi-Fi so bins report even without broadband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6080760" y="42611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citizen adoption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8076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mobile-first apps + training and incentive program for drivers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6080760" y="51937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accuracy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080760" y="54589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smoothing + manual override option in the admin dashboard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B9A4860-4F96-D40C-50AF-651B1EFFC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0395" y="279011"/>
            <a:ext cx="764969" cy="7649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Gains, and How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Kopargaon municipal corporation, sanitation drivers, and citizens across the city.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532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_tru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31089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Collection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342900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routing (red → yellow → green bins) cuts wasted trips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23944" y="233172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25112" y="2532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6517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25112" y="31089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Fuel Cost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325112" y="342900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distance saved vs. fixed manual routes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90688" y="233172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91856" y="2532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_leaf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26517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91856" y="31089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Healthy City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991856" y="342900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emptied before overflow — fewer health &amp; odor complaints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37083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_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9087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514807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8368" y="5468112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live fill levels, trucks, and complaints on one map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123944" y="437083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25112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_targ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984" y="469087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25112" y="514807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325112" y="5468112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heatmaps guide staffing and future bin placement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790688" y="437083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991856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6" descr="icon_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728" y="469087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91856" y="514807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Satisfaction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991856" y="5468112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ticket status builds trust in the system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1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B8A0EFD-2BB7-0C45-17FE-DF307F2F46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0395" y="279011"/>
            <a:ext cx="764969" cy="7649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pic>
        <p:nvPicPr>
          <p:cNvPr id="5" name="Image 0" descr="icon_recy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4" y="3931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Established Tools &amp; Methods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0" name="Image 1" descr="icon_cpu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11226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19751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+ Ultrasonic Sensing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70432" y="22860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ESP32 technical reference &amp; HC-SR04 ultrasonic sensor documentation for bin fill-level sensing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0760" y="18288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201168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5" name="Image 2" descr="icon_route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11226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93992" y="19751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793992" y="22860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Salesman Problem — Nearest-Neighbor construction heuristic refined with 2-opt local search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61188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0" name="Image 3" descr="icon_database_0280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71246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35753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Data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70432" y="3886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documentation for storing and querying bin/route geo-coordinates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080760" y="34290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63640" y="361188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5" name="Image 4" descr="icon_mappin_028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71246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93992" y="35753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&amp; Live Tracking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793992" y="3886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and OpenStreetMap documentation for the live map and route rendering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5029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" y="521208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30" name="Image 5" descr="icon_bell_0280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" y="5312664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70432" y="5175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Communication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1170432" y="5486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documentation for live GPS updates, bin alerts, and dashboard sync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080760" y="5029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263640" y="521208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35" name="Image 6" descr="icon_link_02809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5312664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793992" y="5175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Municipal Models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793992" y="5486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solid-waste-management case studies (IoT bin sensors + optimized collection routing)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0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235ADA0-655F-4EC1-39BD-6B2E95A096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1326" y="263619"/>
            <a:ext cx="768163" cy="762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C0623-6FEA-328B-C6CD-0ACE78F1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DD685-B50A-FF36-5867-919779CCBFFE}"/>
              </a:ext>
            </a:extLst>
          </p:cNvPr>
          <p:cNvSpPr/>
          <p:nvPr/>
        </p:nvSpPr>
        <p:spPr>
          <a:xfrm>
            <a:off x="406908" y="312127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AF4686-0F17-DCC4-98A9-FB6DCBDAAE29}"/>
              </a:ext>
            </a:extLst>
          </p:cNvPr>
          <p:cNvSpPr/>
          <p:nvPr/>
        </p:nvSpPr>
        <p:spPr>
          <a:xfrm>
            <a:off x="356616" y="3108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Nishkarsh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3AEB848-FEF0-2586-61A8-C04275E55FB1}"/>
              </a:ext>
            </a:extLst>
          </p:cNvPr>
          <p:cNvSpPr/>
          <p:nvPr/>
        </p:nvSpPr>
        <p:spPr>
          <a:xfrm>
            <a:off x="45720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REFRENCES  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C23C36A-3ADE-A6C8-72C5-C20B399E492D}"/>
              </a:ext>
            </a:extLst>
          </p:cNvPr>
          <p:cNvSpPr/>
          <p:nvPr/>
        </p:nvSpPr>
        <p:spPr>
          <a:xfrm>
            <a:off x="45720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</a:rPr>
              <a:t>DETAILS  </a:t>
            </a:r>
            <a:endParaRPr lang="en-US" sz="3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87FD7C9-58F6-2DC7-9FE5-10DFC923504E}"/>
              </a:ext>
            </a:extLst>
          </p:cNvPr>
          <p:cNvSpPr/>
          <p:nvPr/>
        </p:nvSpPr>
        <p:spPr>
          <a:xfrm>
            <a:off x="1549478" y="1065276"/>
            <a:ext cx="8051722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0DEBAB2-303B-43A5-4699-386096EDD5F0}"/>
              </a:ext>
            </a:extLst>
          </p:cNvPr>
          <p:cNvSpPr/>
          <p:nvPr/>
        </p:nvSpPr>
        <p:spPr>
          <a:xfrm>
            <a:off x="1170432" y="22860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1549085-0E56-51D6-B8A5-0FA082AEEDF5}"/>
              </a:ext>
            </a:extLst>
          </p:cNvPr>
          <p:cNvSpPr/>
          <p:nvPr/>
        </p:nvSpPr>
        <p:spPr>
          <a:xfrm>
            <a:off x="6793992" y="19751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F5148C5-1B20-55A2-85D6-76ECD69C51FF}"/>
              </a:ext>
            </a:extLst>
          </p:cNvPr>
          <p:cNvSpPr/>
          <p:nvPr/>
        </p:nvSpPr>
        <p:spPr>
          <a:xfrm>
            <a:off x="6793992" y="22860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0FAADE6-90EE-DB00-FD50-08EDFD13EC51}"/>
              </a:ext>
            </a:extLst>
          </p:cNvPr>
          <p:cNvSpPr/>
          <p:nvPr/>
        </p:nvSpPr>
        <p:spPr>
          <a:xfrm>
            <a:off x="1170432" y="35753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D7FE71B3-9C4F-D417-D5C6-7688AB6A32D2}"/>
              </a:ext>
            </a:extLst>
          </p:cNvPr>
          <p:cNvSpPr/>
          <p:nvPr/>
        </p:nvSpPr>
        <p:spPr>
          <a:xfrm>
            <a:off x="1170432" y="3886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CF13E65F-4FB5-8703-159D-BAFEAB864CBF}"/>
              </a:ext>
            </a:extLst>
          </p:cNvPr>
          <p:cNvSpPr/>
          <p:nvPr/>
        </p:nvSpPr>
        <p:spPr>
          <a:xfrm>
            <a:off x="6793992" y="35753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D8BF62F4-BF46-0B87-8151-96F737EA53CA}"/>
              </a:ext>
            </a:extLst>
          </p:cNvPr>
          <p:cNvSpPr/>
          <p:nvPr/>
        </p:nvSpPr>
        <p:spPr>
          <a:xfrm>
            <a:off x="6793992" y="3886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2536D1E2-ADD0-7DFB-122D-E066158D3EF2}"/>
              </a:ext>
            </a:extLst>
          </p:cNvPr>
          <p:cNvSpPr/>
          <p:nvPr/>
        </p:nvSpPr>
        <p:spPr>
          <a:xfrm>
            <a:off x="1170432" y="5175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F780B73-544F-09F9-F09B-528224D49480}"/>
              </a:ext>
            </a:extLst>
          </p:cNvPr>
          <p:cNvSpPr/>
          <p:nvPr/>
        </p:nvSpPr>
        <p:spPr>
          <a:xfrm>
            <a:off x="1170432" y="5486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47045A64-8BC4-D370-B408-54D6BE6CEDDB}"/>
              </a:ext>
            </a:extLst>
          </p:cNvPr>
          <p:cNvSpPr/>
          <p:nvPr/>
        </p:nvSpPr>
        <p:spPr>
          <a:xfrm>
            <a:off x="6793992" y="5175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EBB1BA57-517D-6009-B60D-0637F47338F4}"/>
              </a:ext>
            </a:extLst>
          </p:cNvPr>
          <p:cNvSpPr/>
          <p:nvPr/>
        </p:nvSpPr>
        <p:spPr>
          <a:xfrm>
            <a:off x="6793992" y="5486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923DE74A-779C-5206-31C8-1D72B82AC679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42FE5BF2-0419-0E1C-64EF-389B5C0C2C72}"/>
              </a:ext>
            </a:extLst>
          </p:cNvPr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CleanKop AI  |  Team Nishkarsh  |  Smart Kopargoan Hackathon</a:t>
            </a:r>
            <a:endParaRPr lang="en-US" sz="90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6A8F302B-3765-7ACB-7AAA-E4EF59CFE9B1}"/>
              </a:ext>
            </a:extLst>
          </p:cNvPr>
          <p:cNvSpPr/>
          <p:nvPr/>
        </p:nvSpPr>
        <p:spPr>
          <a:xfrm>
            <a:off x="11430000" y="65471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5CD899-07EB-4C72-F939-74515443253B}"/>
              </a:ext>
            </a:extLst>
          </p:cNvPr>
          <p:cNvSpPr txBox="1"/>
          <p:nvPr/>
        </p:nvSpPr>
        <p:spPr>
          <a:xfrm>
            <a:off x="356616" y="1817194"/>
            <a:ext cx="9780954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ESP32 &amp; Ultrasonic Sensor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IN" sz="1100" dirty="0" err="1"/>
              <a:t>Espressif</a:t>
            </a:r>
            <a:r>
              <a:rPr lang="en-IN" sz="1100" dirty="0"/>
              <a:t> Systems. </a:t>
            </a:r>
            <a:r>
              <a:rPr lang="en-IN" sz="1100" i="1" dirty="0"/>
              <a:t>ESP-IDF Programming Guide (Official Documentation).</a:t>
            </a:r>
            <a:r>
              <a:rPr lang="en-IN" sz="1100" dirty="0"/>
              <a:t> </a:t>
            </a:r>
          </a:p>
          <a:p>
            <a:pPr lvl="1"/>
            <a:r>
              <a:rPr lang="en-IN" sz="1100" dirty="0"/>
              <a:t>HC-SR04 Ultrasonic Sensor Datasheet (Components101 / Manufacturer Documentation). </a:t>
            </a:r>
          </a:p>
          <a:p>
            <a:pPr lvl="1"/>
            <a:endParaRPr lang="en-IN" sz="1100" dirty="0"/>
          </a:p>
          <a:p>
            <a:pPr lvl="0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Route Optimization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IN" sz="1100" i="1" dirty="0"/>
              <a:t>Traveling Salesman Problem (TSP): Nearest </a:t>
            </a:r>
            <a:r>
              <a:rPr lang="en-IN" sz="1100" i="1" dirty="0" err="1"/>
              <a:t>Neighbor</a:t>
            </a:r>
            <a:r>
              <a:rPr lang="en-IN" sz="1100" i="1" dirty="0"/>
              <a:t> + 2-Opt Heuristic.</a:t>
            </a:r>
            <a:r>
              <a:rPr lang="en-IN" sz="1100" dirty="0"/>
              <a:t> </a:t>
            </a:r>
          </a:p>
          <a:p>
            <a:pPr lvl="1"/>
            <a:r>
              <a:rPr lang="en-IN" sz="1100" dirty="0"/>
              <a:t>MDPI, </a:t>
            </a:r>
            <a:r>
              <a:rPr lang="en-IN" sz="1100" i="1" dirty="0"/>
              <a:t>Applied Sciences</a:t>
            </a:r>
            <a:r>
              <a:rPr lang="en-IN" sz="1100" dirty="0"/>
              <a:t> (2023). </a:t>
            </a:r>
          </a:p>
          <a:p>
            <a:pPr lvl="1"/>
            <a:endParaRPr lang="en-IN" sz="1100" dirty="0"/>
          </a:p>
          <a:p>
            <a:pPr lvl="0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Geospatial Database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IN" sz="1100" dirty="0"/>
              <a:t>PostgreSQL + </a:t>
            </a:r>
            <a:r>
              <a:rPr lang="en-IN" sz="1100" b="1" dirty="0" err="1"/>
              <a:t>PostGIS</a:t>
            </a:r>
            <a:r>
              <a:rPr lang="en-IN" sz="1100" b="1" dirty="0"/>
              <a:t> Official Documentation</a:t>
            </a:r>
            <a:r>
              <a:rPr lang="en-IN" sz="1100" dirty="0"/>
              <a:t>. </a:t>
            </a:r>
          </a:p>
          <a:p>
            <a:pPr lvl="1"/>
            <a:endParaRPr lang="en-IN" sz="1100" dirty="0"/>
          </a:p>
          <a:p>
            <a:pPr lvl="0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Live Mapping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IN" sz="1100" dirty="0"/>
              <a:t>Leaflet.js Official Documentation. </a:t>
            </a:r>
          </a:p>
          <a:p>
            <a:pPr lvl="1"/>
            <a:r>
              <a:rPr lang="en-IN" sz="1100" dirty="0"/>
              <a:t>OpenStreetMap Documentation.</a:t>
            </a:r>
          </a:p>
          <a:p>
            <a:pPr lvl="1"/>
            <a:r>
              <a:rPr lang="en-IN" sz="1100" dirty="0"/>
              <a:t> </a:t>
            </a:r>
          </a:p>
          <a:p>
            <a:pPr lvl="0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Communication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IN" sz="1100" dirty="0"/>
              <a:t>Socket.IO v4 Official Documentation</a:t>
            </a:r>
          </a:p>
          <a:p>
            <a:pPr lvl="1"/>
            <a:r>
              <a:rPr lang="en-IN" sz="1100" dirty="0"/>
              <a:t>. </a:t>
            </a:r>
          </a:p>
          <a:p>
            <a:pPr lvl="0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Real-World Smart Waste Management Case Studies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lvl="1"/>
            <a:r>
              <a:rPr lang="en-IN" sz="1100" b="1" dirty="0"/>
              <a:t>Mumbai (Malad), India</a:t>
            </a:r>
            <a:r>
              <a:rPr lang="en-IN" sz="1100" dirty="0"/>
              <a:t> – IoT Smart Bin Deployment (IIETA Journal): ~20% reduction in garbage truck usage</a:t>
            </a:r>
          </a:p>
          <a:p>
            <a:pPr lvl="1"/>
            <a:endParaRPr lang="en-IN" sz="1100" dirty="0"/>
          </a:p>
          <a:p>
            <a:pPr lvl="1"/>
            <a:endParaRPr lang="en-IN" sz="1100" dirty="0"/>
          </a:p>
          <a:p>
            <a:pPr lvl="1"/>
            <a:endParaRPr lang="en-IN" sz="1100" dirty="0"/>
          </a:p>
          <a:p>
            <a:endParaRPr lang="en-IN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7DB18C1-32DD-95B7-2BD1-670434E5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395" y="279011"/>
            <a:ext cx="764969" cy="76496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83F83FC-DB79-0DFD-C049-A6F059CCC6C0}"/>
              </a:ext>
            </a:extLst>
          </p:cNvPr>
          <p:cNvSpPr txBox="1"/>
          <p:nvPr/>
        </p:nvSpPr>
        <p:spPr>
          <a:xfrm>
            <a:off x="508468" y="5186908"/>
            <a:ext cx="8940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200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Parth Desai (Leader)  •  Divya Pawar  •  Shreyash Patil  •  Tanavi Pawar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61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984</Words>
  <Application>Microsoft Office PowerPoint</Application>
  <PresentationFormat>Widescreen</PresentationFormat>
  <Paragraphs>178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Parth Desai</cp:lastModifiedBy>
  <cp:revision>4</cp:revision>
  <dcterms:created xsi:type="dcterms:W3CDTF">2026-08-06T09:24:34Z</dcterms:created>
  <dcterms:modified xsi:type="dcterms:W3CDTF">2026-08-06T11:40:17Z</dcterms:modified>
</cp:coreProperties>
</file>